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大家好，今天我将为大家详细解析OpenClaw的架构设计。这是一个关于AI Agent系统的深度剖析，希望能帮助大家理解这类系统的核心原理与实现方式。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分享将分为五个部分。首先，我们会探讨为什么我们需要Agent；接着，分析大语言模型的核心特征；然后，以OpenClaw为例，深入解析其架构设计；之后，我们会了解Agent开发者的日常工作；最后，进行一些技术细节的深入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首先，让我们进入第一部分：为什么需要Agent？我们将从裸LLM的局限性开始探讨。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知道，大语言模型（LLM）在其原始形态下，只是一个无状态的文本补全引擎。它没有记忆，无法与外部世界交互，更无法执行具体的操作。这就造成了用户期望与LLM实际能力之间的巨大差距。例如，当你让它检查日志文件并修复bug时，它只能告诉你方法，却无法真正动手去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那么，Agent的出现就是为了解决这些问题。Agent为LLM提供了一个运行时脚手架，赋予了它感知、推理和行动的能力。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通过这个表格，我们可以清晰地看到，Agent为LLM带来了读取文件、记忆对话、调用API等关键能力，使其能够真正地完成复杂任务。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特别是在多步骤推理和错误恢复方面，Agent不再局限于单次的“思考”，而是可以通过循环迭代来修正错误，达成目标。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这张图直观地展示了纯LLM和LLM+Agent框架的区别。Agent就像一个智能的中间层，它不断地在用户、LLM和外部工具之间进行协调，形成一个“感知-思考-行动”的闭环，从而驱动任务的完成。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接下来，我们进入第二部分，深入了解大语言模型的特征，这对于设计一个有效的Agent至关重要。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LLM的优势非常突出，包括强大的自然语言理解能力、推理规划能力、代码生成能力等。这些能力是构建智能Agent的基础。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然而，LLM也存在根本性的局限，比如无状态性、无行动能力、容易产生幻觉等。这些局限正是Agent架构需要解决的核心问题。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这些特征直接决定了Agent系统的架构设计。例如，为了解决无状态性，我们需要会话管理；为了解决无行动能力，我们需要工具执行层。这些都是设计Agent时必须考虑的关键点。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现在，让我们进入第三部分，以OpenClaw为例，看看一个具体的Agent系统是如何设计的。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OpenClaw的核心定位是一个本地优先的个人AI助手编排系统。它就像一个中央网关，连接各种LLM、消息通道和客户端，让AI能够在用户的本地环境中安全地工作。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这张图展示了OpenClaw的架构如何对应到我们之前讨论的Agent设计原则。它分为感知层、编排层、推理循环、大脑、行动层和持久化层，每一层都有其特定的功能，共同构成了完整的Agent系统。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接下来，我们详细看一下OpenClaw的各层是如何解决LLM的具体局限的。例如，通过会话管理解决无状态性，通过工具注入解决无行动能力，通过工具结果接地来减少幻觉等。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了解了架构之后，我们来看看第四部分：Agent开发者的日常工作是什么样的？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构建Agent系统涉及多个领域的工作，包括Agent循环设计、工具设计与实现、提示词工程、上下文管理、安全策略制定以及通道集成开发等。这张表格展示了这些核心工作及其在OpenClaw中的具体体现。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一个有趣的问题是：AI本身能完成Agent开发吗？答案是部分可以。AI在代码生成、工具实现等方面已经表现出强大的能力，但在定义产品方向、架构决策、安全策略等方面，仍然需要人类的专业判断和参与。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最后，让我们进入第五部分，进行一些技术细节的深入分析。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OpenClaw的代码库采用了清晰的分层架构。网关核心（/src）保持精简，而领域特定的能力则通过插件形式放在/extensions目录下，这种设计使得系统具有高度的灵活性和可扩展性。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这张系统交互图详细展示了一个消息在OpenClaw内部的完整流转过程。从用户发送消息开始，经过网关的路由、会话管理，再到LLM的推理和工具的执行，最后将结果返回给用户，整个流程清晰可见。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在技术实现层面，OpenClaw深度集成了Pi Agent运行时。通过推理循环、工具覆盖、事件挂钩等机制，实现了对Agent行为的精细化控制，确保了系统的高效和灵活。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我的分享到此结束，感谢大家的观看！希望这次关于OpenClaw架构的解析能对大家有所帮助。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notesSlides/notesSlide2.xml" Type="http://schemas.openxmlformats.org/officeDocument/2006/relationships/notesSlid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notesSlides/notesSlide5.xml" Type="http://schemas.openxmlformats.org/officeDocument/2006/relationships/notesSlid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6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notesSlides/notesSlide9.xml" Type="http://schemas.openxmlformats.org/officeDocument/2006/relationships/notesSlid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14" Target="../notesSlides/notesSlide10.xml" Type="http://schemas.openxmlformats.org/officeDocument/2006/relationships/notesSlid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7.jpeg" Type="http://schemas.openxmlformats.org/officeDocument/2006/relationships/image"/><Relationship Id="rId3" Target="../media/image58.png" Type="http://schemas.openxmlformats.org/officeDocument/2006/relationships/image"/><Relationship Id="rId4" Target="../media/image59.svg" Type="http://schemas.openxmlformats.org/officeDocument/2006/relationships/image"/><Relationship Id="rId5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png" Type="http://schemas.openxmlformats.org/officeDocument/2006/relationships/image"/><Relationship Id="rId7" Target="../media/image65.svg" Type="http://schemas.openxmlformats.org/officeDocument/2006/relationships/image"/><Relationship Id="rId8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75.png" Type="http://schemas.openxmlformats.org/officeDocument/2006/relationships/image"/><Relationship Id="rId14" Target="../media/image76.svg" Type="http://schemas.openxmlformats.org/officeDocument/2006/relationships/image"/><Relationship Id="rId15" Target="../notesSlides/notesSlide13.xml" Type="http://schemas.openxmlformats.org/officeDocument/2006/relationships/notesSlide"/><Relationship Id="rId2" Target="../media/image66.jpeg" Type="http://schemas.openxmlformats.org/officeDocument/2006/relationships/image"/><Relationship Id="rId3" Target="../media/image67.png" Type="http://schemas.openxmlformats.org/officeDocument/2006/relationships/image"/><Relationship Id="rId4" Target="../media/image68.svg" Type="http://schemas.openxmlformats.org/officeDocument/2006/relationships/image"/><Relationship Id="rId5" Target="../media/image69.png" Type="http://schemas.openxmlformats.org/officeDocument/2006/relationships/image"/><Relationship Id="rId6" Target="../media/image70.svg" Type="http://schemas.openxmlformats.org/officeDocument/2006/relationships/image"/><Relationship Id="rId7" Target="../media/image71.png" Type="http://schemas.openxmlformats.org/officeDocument/2006/relationships/image"/><Relationship Id="rId8" Target="../media/image72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79.png" Type="http://schemas.openxmlformats.org/officeDocument/2006/relationships/image"/><Relationship Id="rId13" Target="../media/image80.svg" Type="http://schemas.openxmlformats.org/officeDocument/2006/relationships/image"/><Relationship Id="rId14" Target="../notesSlides/notesSlide14.xml" Type="http://schemas.openxmlformats.org/officeDocument/2006/relationships/notesSlid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1.jpe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7.xml" Type="http://schemas.openxmlformats.org/officeDocument/2006/relationships/notesSlide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86.png" Type="http://schemas.openxmlformats.org/officeDocument/2006/relationships/image"/><Relationship Id="rId7" Target="../media/image87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8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notesSlides/notesSlide19.xml" Type="http://schemas.openxmlformats.org/officeDocument/2006/relationships/notesSlide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7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notesSlides/notesSlide21.xml" Type="http://schemas.openxmlformats.org/officeDocument/2006/relationships/notesSlide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98.png" Type="http://schemas.openxmlformats.org/officeDocument/2006/relationships/image"/><Relationship Id="rId5" Target="../media/image99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100.png" Type="http://schemas.openxmlformats.org/officeDocument/2006/relationships/image"/><Relationship Id="rId9" Target="../media/image10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8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10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2159000"/>
            <a:ext cx="12192000" cy="2540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FFFFFF">
                  <a:alpha val="0"/>
                </a:srgbClr>
              </a:gs>
              <a:gs pos="20000">
                <a:srgbClr val="FFFFFF">
                  <a:alpha val="80000"/>
                </a:srgbClr>
              </a:gs>
              <a:gs pos="80000">
                <a:srgbClr val="FFFFFF">
                  <a:alpha val="80000"/>
                </a:srgbClr>
              </a:gs>
              <a:gs pos="100000">
                <a:srgbClr val="FFFFFF">
                  <a:alpha val="0"/>
                </a:srgbClr>
              </a:gs>
            </a:gsLst>
            <a:lin ang="0"/>
          </a:gradFill>
          <a:ln cmpd="sng" cap="flat">
            <a:gradFill rotWithShape="true">
              <a:gsLst>
                <a:gs pos="0">
                  <a:srgbClr val="E6CFCF">
                    <a:alpha val="0"/>
                  </a:srgbClr>
                </a:gs>
                <a:gs pos="20000">
                  <a:srgbClr val="E6CFCF">
                    <a:alpha val="80000"/>
                  </a:srgbClr>
                </a:gs>
                <a:gs pos="80000">
                  <a:srgbClr val="E6CFCF">
                    <a:alpha val="80000"/>
                  </a:srgbClr>
                </a:gs>
                <a:gs pos="100000">
                  <a:srgbClr val="E6CFCF">
                    <a:alpha val="0"/>
                  </a:srgbClr>
                </a:gs>
              </a:gsLst>
              <a:lin ang="0"/>
            </a:gra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032000" y="2413000"/>
            <a:ext cx="812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OpenClaw架构解析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cmpd="sng" cap="flat">
            <a:solidFill>
              <a:srgbClr val="006E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048000" y="3556000"/>
            <a:ext cx="609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一个AI Agent系统的设计与实现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892800" y="4445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526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905000" y="18034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667000" y="1778000"/>
            <a:ext cx="825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 Agent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54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6416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905000" y="26924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667000" y="2667000"/>
            <a:ext cx="825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大语言模型的特征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429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5306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905000" y="3581400"/>
            <a:ext cx="457200" cy="457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2667000" y="3556000"/>
            <a:ext cx="825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架构设计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1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4196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905000" y="4470400"/>
            <a:ext cx="457200" cy="457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2667000" y="4445000"/>
            <a:ext cx="825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Agent 开发者的工作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20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5308600"/>
            <a:ext cx="635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905000" y="5359400"/>
            <a:ext cx="457200" cy="457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2667000" y="5334000"/>
            <a:ext cx="825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技术深入分析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463800" y="2286000"/>
            <a:ext cx="72644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01 为什么需要Agent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334000" y="3175000"/>
            <a:ext cx="1524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cmpd="sng" cap="flat">
            <a:solidFill>
              <a:srgbClr val="006E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0" y="3429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007A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THE RISE OF INTELLIGENT AGENTS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57900" y="4064000"/>
            <a:ext cx="76200" cy="762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304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裸LLM的问题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95500" y="2032000"/>
            <a:ext cx="635000" cy="635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238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每次调用都是独立的，模型没有短期或长期记忆，无法关联上下文。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20320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572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无行动能力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3238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无法直接读取文件、执行代码或访问外部世界，缺乏物理交互能力。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61500" y="2032000"/>
            <a:ext cx="635000" cy="635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255000" y="2794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期望与能力的鸿沟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32385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用户希望得到实际任务结果，而裸LLM通常只能提供抽象的文字描述。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AFF">
              <a:alpha val="10000"/>
            </a:srgbClr>
          </a:solidFill>
          <a:ln w="12700" cmpd="sng" cap="flat">
            <a:solidFill>
              <a:srgbClr val="007A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257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5207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</a:t>
            </a: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原始LLM仅作为文本补全引擎存在局限性，需要结合外部工具与记忆机制来增强其实用性。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40259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Agent带来了什么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7AFF">
              <a:alpha val="10000"/>
            </a:srgbClr>
          </a:solidFill>
          <a:ln cmpd="sng" cap="flat">
            <a:solidFill>
              <a:srgbClr val="006EE6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6670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8194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7686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读取文件/执行命令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0" y="27686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否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8194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27686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是 (通过工具调用)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036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3556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5052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记住之前的对话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10000" y="35052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否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3556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112000" y="35052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是 (会话持久化记忆)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1402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42926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397000" y="42418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调用外部API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810000" y="42418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否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42926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112000" y="42418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是 (工具集成能力)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8768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52500" y="50292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397000" y="49784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多步骤推理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810000" y="49784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仅单次推理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5029200"/>
            <a:ext cx="304800" cy="3048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112000" y="49784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迭代循环 (Reasoning Loop)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6134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508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52500" y="5765800"/>
            <a:ext cx="304800" cy="3048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397000" y="5715000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错误恢复机制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810000" y="57150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无</a:t>
            </a:r>
            <a:endParaRPr lang="en-US" sz="1100"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5765800"/>
            <a:ext cx="304800" cy="3048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7112000" y="5715000"/>
            <a:ext cx="4064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重试、故障转移、压缩感知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纯LLM vs. LLM + Agent框架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143000"/>
            <a:ext cx="10922000" cy="3810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2000" y="1270000"/>
            <a:ext cx="10668000" cy="355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1066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Agent充当一个中间运行时循环：它接收用户请求，将其连同可用的工具定义一起注入LLM，让LLM推理下一步操作，截获LLM的工具调用决策，在真实世界中执行这些决策，并将结果反馈回去。这个循环不断重复，直到任务完成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2286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 spc="400">
                <a:solidFill>
                  <a:srgbClr val="007A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43200" y="2794000"/>
            <a:ext cx="67056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大语言模型的特征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cmpd="sng" cap="flat">
            <a:solidFill>
              <a:srgbClr val="006E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3937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CHARACTERISTICS OF LARGE LANGUAGE MODELS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2514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LLM的优势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05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54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自然语言理解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擅长解析模糊、依赖上下文的人类语言，准确捕捉用户意图。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0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1854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推理与规划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413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将复杂任务分解为逻辑步骤，并决定调用哪个工具来解决问题。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905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890000" y="1854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代码生成与转换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413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在海量代码上训练，具备强大的生成、编辑和调试程序能力。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4013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知识检索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572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内化了广泛的公共知识快照，能够快速回答各类事实性问题。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064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207000" y="4013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自适应沟通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99000" y="4572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能根据上下文动态调整语气、语言风格和回答的细节层次。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810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064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890000" y="4013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 Agent 基础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82000" y="4572000"/>
            <a:ext cx="279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这些核心能力共同构成了构建下一代自主智能 Agent 的坚实底座。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4521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LLM的根本性局限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108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每次调用独立，无内置记忆，无法关联历史对话。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905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159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207000" y="2108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无行动能力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2667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无法主动与外部系统交互，无法执行物理或数字操作。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905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159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90000" y="2108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幻觉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2667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缺乏知识时会生成看似合理但实则错误的信息。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810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4013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有限的上下文窗口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572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处理Token数量有限，长文本信息可能丢失或截断。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810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064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207000" y="4013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无内部验证能力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4572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无法核对自身输出的正确性，缺乏自我纠错机制。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810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064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8890000" y="40132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训练数据过时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82000" y="45720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知识冻结在训练截止日期，无法获取最新信息。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AFF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对Agent设计的启示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14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14500" y="1524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无状态性 (Statelessness)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14500" y="1930400"/>
            <a:ext cx="4000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需要引入会话管理机制和长短期记忆层来维持上下文连贯性。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397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714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175500" y="1524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无行动能力 (No Action)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75500" y="1930400"/>
            <a:ext cx="4000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必须构建工具执行层，赋予Agent调用外部API和物理/数字工具的能力。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27305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14500" y="28575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幻觉 (Hallucination)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14500" y="3263900"/>
            <a:ext cx="4000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通过检索增强生成(RAG)和工具结果提供事实依据，实现接地(Grounding)。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7305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0480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175500" y="28575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有限的上下文窗口 (Context Limit)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75500" y="3263900"/>
            <a:ext cx="4000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设计上下文压缩、摘要和自动修剪策略，确保关键信息不丢失。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064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714500" y="4191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无内部验证能力 (No Verification)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14500" y="4597400"/>
            <a:ext cx="4000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建立结果观测与反馈机制，允许Agent基于工具输出进行自我纠正。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064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4381500"/>
            <a:ext cx="508000" cy="508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75500" y="4191000"/>
            <a:ext cx="4000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训练数据过时 (Stale Data)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75500" y="4597400"/>
            <a:ext cx="40005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集成实时网页搜索和实时数据流API，确保获取最新的信息。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AFF">
              <a:alpha val="10000"/>
            </a:srgbClr>
          </a:solidFill>
          <a:ln w="12700" cmpd="sng" cap="flat">
            <a:solidFill>
              <a:srgbClr val="007A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016000" y="5588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核心架构启示：</a:t>
            </a:r>
            <a:r>
              <a:rPr lang="en-US" b="false" i="false" strike="noStrike" u="none" sz="16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Agent 架构必须围绕“记忆”、“工具使用”和“自我反思”三大支柱进行设计，以弥补 LLM 的固有缺陷。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413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03 OpenClaw架构设计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556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AGENT SYSTEM ARCHITECTURE DESIGN CASE STUDY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943600" y="5715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4521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OpenClaw核心概念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95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是一个</a:t>
            </a: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本地优先</a:t>
            </a:r>
            <a:r>
              <a:rPr lang="en-US" b="fals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的个人 AI 助手编排系统。它充当中央“网关 (Gateway)”，连接大语言模型 (LLM)、消息通道与客户端，构建安全的本地智能生态。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3556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3810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3759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本地优先运行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318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直接运行在用户个人硬件上，数据不出本地，确保隐私安全与低延迟响应。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3556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3810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56200" y="3759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智能编排网关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48200" y="4318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作为中央调度枢纽，灵活桥接各类 LLM 模型、消息通道和客户端界面。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26400" y="3556000"/>
            <a:ext cx="33782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3810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788400" y="37592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安全任务执行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80400" y="4318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在受控环境中安全执行本地任务，隔离外部风险，保障系统操作的安全性。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381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OpenClaw的Agent架构映射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6" r="66" t="0" b="0"/>
          <a:stretch>
            <a:fillRect/>
          </a:stretch>
        </p:blipFill>
        <p:spPr>
          <a:xfrm rot="0" flipH="false" flipV="false">
            <a:off x="3048000" y="1143000"/>
            <a:ext cx="6096000" cy="2997200"/>
          </a:xfrm>
          <a:prstGeom prst="roundRect">
            <a:avLst>
              <a:gd name="adj" fmla="val 4237"/>
            </a:avLst>
          </a:prstGeom>
          <a:noFill/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431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OpenClaw组件映射到Agent系统的六大核心层次，各层协同工作构成完整的智能体架构：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953000"/>
            <a:ext cx="381000" cy="381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4889500"/>
            <a:ext cx="247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感知层 (Perception)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处理输入信息，连接外部渠道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4826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4953000"/>
            <a:ext cx="381000" cy="381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4889500"/>
            <a:ext cx="247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编排层 (Orchestration)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路由分发与系统提示词构建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4826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18500" y="4953000"/>
            <a:ext cx="381000" cy="381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26500" y="4889500"/>
            <a:ext cx="247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推理循环 (Reasoning Loop)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核心逻辑处理与工具调用决策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588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715000"/>
            <a:ext cx="381000" cy="381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5651500"/>
            <a:ext cx="247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大脑 (Brain)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可插拔LLM模型提供智能能力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5588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4635500" y="5715000"/>
            <a:ext cx="381000" cy="381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143500" y="5651500"/>
            <a:ext cx="247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行动层 (Action Layer)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执行具体工具调用与交互动作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5588000"/>
            <a:ext cx="3302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25400" blurRad="635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8318500" y="5715000"/>
            <a:ext cx="381000" cy="381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826500" y="5651500"/>
            <a:ext cx="2476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持久化层 (Persistence)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管理会话状态与长期记忆存储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各层如何解决特定的LLM局限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778000" y="16510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解决无状态性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778000" y="2032000"/>
            <a:ext cx="393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通过会话JSONL历史、压缩、记忆插件和引导文件实现会话持久化。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609600" cy="609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7239000" y="16510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解决无行动能力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239000" y="2032000"/>
            <a:ext cx="393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通过工具注入管道，赋予LLM文件读写、执行命令等实际操作能力。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048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609600" cy="609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31750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解决幻觉问题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78000" y="3556000"/>
            <a:ext cx="393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通过工具结果进行接地（Grounding），迫使LLM使用真实数据来构建回应。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048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365500"/>
            <a:ext cx="609600" cy="609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239000" y="31750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解决上下文限制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239000" y="3556000"/>
            <a:ext cx="393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实现自动压缩和Cache-TTL上下文修剪策略，最大化利用上下文窗口。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572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609600" cy="609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778000" y="46990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解决安全性问题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778000" y="5080000"/>
            <a:ext cx="393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通过宿主优先模式、沙箱模式和工具策略过滤，确保命令安全执行。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572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4889500"/>
            <a:ext cx="609600" cy="609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239000" y="4699000"/>
            <a:ext cx="393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239000" y="5080000"/>
            <a:ext cx="3937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通过分层架构，将单一的LLM转化为具备记忆、行动和自我修正能力的智能体。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2032000"/>
            <a:ext cx="762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cmpd="sng" cap="flat">
            <a:solidFill>
              <a:srgbClr val="E6CFCF">
                <a:alpha val="9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7A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0" y="2413000"/>
            <a:ext cx="711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04 Agent开发者的工作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540000" y="35560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DAILY WORK OF AGENT DEVELOPERS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603504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Agent开发的核心工作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397000"/>
          <a:ext cx="9906000" cy="431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810000"/>
                <a:gridCol w="3810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工作领域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A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A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OpenClaw中的示例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A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D1D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Agent循环设计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C4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定义感知-思考-行动周期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8E8E9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Pi运行时集成、轮次生命周期管理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D1D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工具设计与实现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C4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创建工具模式、实现工具后端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8E8E9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文件读写工具、bash执行器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D1D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提示词工程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C4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编写系统提示词、人格指令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8E8E9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AGENTS.md、SOUL.md等引导文件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D1D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上下文管理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C4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设计压缩策略、记忆系统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8E8E9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自动压缩工作流、Cache-TTL修剪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D1D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安全与策略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C4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定义沙箱边界、工具白名单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8E8E9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Docker沙箱集成、工具过滤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D1D1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通道与集成开发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3C3C4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为消息平台构建适配器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8E8E9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80+扩展插件，覆盖WhatsApp、Telegram等</a:t>
                      </a:r>
                      <a:endParaRPr lang="en-US" sz="1100"/>
                    </a:p>
                  </a:txBody>
                  <a:tcPr anchor="ctr" anchorCtr="false" marL="1270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Agent开发本身能由AI完成吗？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1854200"/>
            <a:ext cx="609600" cy="609600"/>
          </a:xfrm>
          <a:prstGeom prst="ellipse">
            <a:avLst/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19812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78000" y="1778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工具实现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31254" flipH="false" flipV="false">
            <a:off x="2857500" y="2152713"/>
            <a:ext cx="63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3429000" y="1778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可以生成工具后端代码、编写JSON Schema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366000" y="1778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9500"/>
                </a:solidFill>
                <a:latin typeface="Noto Sans SC"/>
                <a:ea typeface="Noto Sans SC"/>
                <a:cs typeface="Noto Sans SC"/>
                <a:sym typeface="Noto Sans SC"/>
              </a:rPr>
              <a:t>人类参与：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决定构建哪些工具、定义安全契约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279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2997200"/>
            <a:ext cx="609600" cy="609600"/>
          </a:xfrm>
          <a:prstGeom prst="ellipse">
            <a:avLst/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31242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778000" y="2921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提示词工程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331254" flipH="false" flipV="false">
            <a:off x="2857500" y="3295713"/>
            <a:ext cx="63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429000" y="2921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可以迭代提示词、测试变体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66000" y="2921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9500"/>
                </a:solidFill>
                <a:latin typeface="Noto Sans SC"/>
                <a:ea typeface="Noto Sans SC"/>
                <a:cs typeface="Noto Sans SC"/>
                <a:sym typeface="Noto Sans SC"/>
              </a:rPr>
              <a:t>人类参与：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定义Agent的人格、价值观和信任模型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93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140200"/>
            <a:ext cx="609600" cy="609600"/>
          </a:xfrm>
          <a:prstGeom prst="ellipse">
            <a:avLst/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43000" y="42672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778000" y="4064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上下文管理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31254" flipH="false" flipV="false">
            <a:off x="2857500" y="4438713"/>
            <a:ext cx="63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3429000" y="4064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可以建议压缩策略并编写修剪启发式算法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366000" y="4064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9500"/>
                </a:solidFill>
                <a:latin typeface="Noto Sans SC"/>
                <a:ea typeface="Noto Sans SC"/>
                <a:cs typeface="Noto Sans SC"/>
                <a:sym typeface="Noto Sans SC"/>
              </a:rPr>
              <a:t>人类参与：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选择正确的策略需要对用户行为的理解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080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16000" y="5283200"/>
            <a:ext cx="609600" cy="609600"/>
          </a:xfrm>
          <a:prstGeom prst="ellipse">
            <a:avLst/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143000" y="54102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778000" y="52070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5331254" flipH="false" flipV="false">
            <a:off x="2857500" y="5581713"/>
            <a:ext cx="63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5E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3429000" y="5207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可以编写、编辑和调试代码库的大部分内容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366000" y="5207000"/>
            <a:ext cx="368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9500"/>
                </a:solidFill>
                <a:latin typeface="Noto Sans SC"/>
                <a:ea typeface="Noto Sans SC"/>
                <a:cs typeface="Noto Sans SC"/>
                <a:sym typeface="Noto Sans SC"/>
              </a:rPr>
              <a:t>人类参与：</a:t>
            </a:r>
            <a:r>
              <a:rPr lang="en-US" b="false" i="false" strike="noStrike" u="none" sz="14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架构决策、依赖选择和跨系统集成设计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2413000"/>
            <a:ext cx="762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7A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540000" y="2667000"/>
            <a:ext cx="711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 spc="2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413760" y="3111500"/>
            <a:ext cx="536448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技术深入分析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代码库组织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2159000"/>
            <a:ext cx="381000" cy="381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032000" y="1778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编排层 (Orchestration)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ts val="8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位置：/src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网关控制平面：WebSocket服务器、路由引擎、会话管理等核心逻辑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9685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2159000"/>
            <a:ext cx="381000" cy="381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7493000" y="1778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感知层 + 大脑 + 行动层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ts val="8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位置：/extensions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80+插件生态：通道适配器、LLM提供者、工具插件等领域能力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302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36195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206500" y="3810000"/>
            <a:ext cx="381000" cy="381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2032000" y="3429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感知层 (客户端界面)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ts val="8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位置：/apps 和 /ui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多端交互入口：Web UI控制台、原生节点服务、CLI命令行工具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3302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619500"/>
            <a:ext cx="762000" cy="762000"/>
          </a:xfrm>
          <a:prstGeom prst="roundRect">
            <a:avLst>
              <a:gd name="adj" fmla="val 25000"/>
            </a:avLst>
          </a:prstGeom>
          <a:solidFill>
            <a:srgbClr val="007A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67500" y="3810000"/>
            <a:ext cx="381000" cy="381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493000" y="3429000"/>
            <a:ext cx="368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共享基础设施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ts val="8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位置：/packages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通用能力复用：ClawDBot SDK、Memory-Host-SDK等基础组件库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AFF">
              <a:alpha val="8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381000" cy="381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5080000"/>
            <a:ext cx="965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架构特点：</a:t>
            </a:r>
            <a:r>
              <a:rPr lang="en-US" b="false" i="false" strike="noStrike" u="none" sz="1500">
                <a:solidFill>
                  <a:srgbClr val="3C3C4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核心网关保持精简，领域能力通过插件动态扩展，实现了系统的高灵活性与可维护性。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系统交互图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46" b="146"/>
          <a:stretch>
            <a:fillRect/>
          </a:stretch>
        </p:blipFill>
        <p:spPr>
          <a:xfrm rot="0" flipH="false" flipV="false">
            <a:off x="3429000" y="1778000"/>
            <a:ext cx="5334000" cy="2857500"/>
          </a:xfrm>
          <a:prstGeom prst="roundRect">
            <a:avLst>
              <a:gd name="adj" fmla="val 4444"/>
            </a:avLst>
          </a:prstGeom>
          <a:noFill/>
          <a:ln w="508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48895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254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50165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下图展示了消息在运行时如何在这些边界之间流动，从客户端界面到网关，再到LLM和工具，最后将结果返回给用户。整个流程清晰地体现了系统各组件间的协作关系与数据流向。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508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5438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AFF"/>
                </a:solidFill>
                <a:latin typeface="Poppins"/>
                <a:ea typeface="Poppins"/>
                <a:cs typeface="Poppins"/>
                <a:sym typeface="Poppins"/>
              </a:rPr>
              <a:t>Pi Agent运行时：实现细节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930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推理循环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13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处理内部的逐轮循环，动态触发工具执行，确保逻辑闭环。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1778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19685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092700" y="1930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工具覆盖管道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48200" y="2413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替换Pi的默认工具，注入自定义扩展工具集，增强业务能力。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26400" y="1778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1968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24900" y="1930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会话事件挂钩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80400" y="2413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订阅事件以实现实时流式更新和分块回复，提升交互体验。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683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460500" y="3835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压缩实现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318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结合Pi的自动压缩和自定义的Cache-TTL修剪策略，优化性能。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94200" y="3683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48200" y="3873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092700" y="3835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D1D1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动态Prompt组装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48200" y="4318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从本地文件读取配置，灵活组装系统提示词，适应多变场景。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26400" y="3683000"/>
            <a:ext cx="3378200" cy="1651000"/>
          </a:xfrm>
          <a:prstGeom prst="roundRect">
            <a:avLst>
              <a:gd name="adj" fmla="val 7692"/>
            </a:avLst>
          </a:prstGeom>
          <a:solidFill>
            <a:srgbClr val="007AFF">
              <a:alpha val="8000"/>
            </a:srgbClr>
          </a:solidFill>
          <a:ln w="12700" cmpd="sng" cap="flat">
            <a:solidFill>
              <a:srgbClr val="007A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280400" y="38735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24900" y="38354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80400" y="4318000"/>
            <a:ext cx="28702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8E8E9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深度集成OpenClaw，实现对Agent行为的精细化控制，确保系统高效与灵活。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842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AEAEB2"/>
                </a:solidFill>
                <a:latin typeface="Noto Sans SC"/>
                <a:ea typeface="Noto Sans SC"/>
                <a:cs typeface="Noto Sans SC"/>
                <a:sym typeface="Noto Sans SC"/>
              </a:rPr>
              <a:t>© 2024 OpenClaw Technology Inc. All Rights Reserved.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228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感谢观看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17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OpenClaw 架构解析与分享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715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69696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期待与您的交流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